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342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-3017520" y="5212080"/>
            <a:ext cx="3291840" cy="32918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RE:BRAND STRATEGY DECK  ·  SAAVAN '26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CHAIYA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Neighbourhood Habit to India's Daily Social Brew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5-part rebranding and 3-year growth strategy addressing brand erosion, Gen-Z disengagement, and commoditization — within zero-supply-chain-change and zero-big-budget constraints.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     </a:t>
            </a:r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Repositioning      </a:t>
            </a:r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Packaging      </a:t>
            </a:r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Community      </a:t>
            </a:r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Targets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 in “No-Man’s Land”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vs. root cause across four evidence categories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110642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819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5819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(DATA EVIDENCE)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0920" y="15819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075688"/>
            <a:ext cx="489204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slid ₹16.8 Cr → ₹15.9 Cr (2026) despite opening a new store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2075688"/>
            <a:ext cx="42519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brand loyalty — chosen for proximity, not preference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841248"/>
          </a:xfrm>
          <a:prstGeom prst="rect">
            <a:avLst/>
          </a:prstGeom>
          <a:solidFill>
            <a:srgbClr val="F3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16936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916936"/>
            <a:ext cx="489204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52% → 47%; monthly visits 3.1 → 2.7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0920" y="2916936"/>
            <a:ext cx="42519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Commoditization — “similar chai available anywhere”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58184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758184"/>
            <a:ext cx="489204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(18–24) share collapsed 31% → 23%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3758184"/>
            <a:ext cx="42519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social currency vs. newer hangout cafés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11064240" cy="841248"/>
          </a:xfrm>
          <a:prstGeom prst="rect">
            <a:avLst/>
          </a:prstGeom>
          <a:solidFill>
            <a:srgbClr val="F3EAE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99432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4599432"/>
            <a:ext cx="489204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score 29% → 17%; Modern score 31% → 19%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4599432"/>
            <a:ext cx="42519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value prop — neither cheapest tapri nor modern café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1064240" cy="658368"/>
          </a:xfrm>
          <a:prstGeom prst="rect">
            <a:avLst>
              <a:gd name="adj" fmla="val 8333"/>
            </a:avLst>
          </a:prstGeom>
          <a:solidFill>
            <a:srgbClr val="7A342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7784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has become a transactional commodity — functional when nearby, but lacking the emotional resonance, social experience, and distinctiveness needed to drive repeat visits and win back younger customers.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Rebranding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Re-Anchoring as “India’s Daily Social Brew”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1234440"/>
          </a:xfrm>
          <a:prstGeom prst="rect">
            <a:avLst>
              <a:gd name="adj" fmla="val 4444"/>
            </a:avLst>
          </a:prstGeom>
          <a:solidFill>
            <a:srgbClr val="F3EAE0"/>
          </a:solidFill>
          <a:ln w="12700">
            <a:solidFill>
              <a:srgbClr val="D9C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POSITIONING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convenient neighbourhood shop to grab quick chai &amp; snacks”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60720" y="1783080"/>
            <a:ext cx="640080" cy="32004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325880"/>
            <a:ext cx="5120640" cy="1234440"/>
          </a:xfrm>
          <a:prstGeom prst="rect">
            <a:avLst>
              <a:gd name="adj" fmla="val 4444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435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POSITIONING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20840" y="17373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warm, vibrant everyday Adda where conversations and chai brew together”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 PERSONAS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461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Gen-Z (18–24)
</a:t>
            </a:r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&amp; creative freelancers seeking an affordable, aesthetic, welcoming hangout spot.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44068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4612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Professionals (25–34)
</a:t>
            </a:r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workers needing a reliable, high-quality daily chai break and micro-meeting space.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CULTURAL IDENTITY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383280" cy="685800"/>
          </a:xfrm>
          <a:prstGeom prst="rect">
            <a:avLst>
              <a:gd name="adj" fmla="val 6667"/>
            </a:avLst>
          </a:prstGeom>
          <a:solidFill>
            <a:srgbClr val="7A34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37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“Chai, Charcha, &amp; CHAIYA”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60520" y="4937760"/>
            <a:ext cx="502920" cy="502920"/>
          </a:xfrm>
          <a:prstGeom prst="rect">
            <a:avLst>
              <a:gd name="adj" fmla="val 10909"/>
            </a:avLst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54589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Terracotta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0" y="4937760"/>
            <a:ext cx="502920" cy="502920"/>
          </a:xfrm>
          <a:prstGeom prst="rect">
            <a:avLst>
              <a:gd name="adj" fmla="val 10909"/>
            </a:avLst>
          </a:prstGeom>
          <a:solidFill>
            <a:srgbClr val="5C7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54589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Cardamom Green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97880" y="4937760"/>
            <a:ext cx="502920" cy="502920"/>
          </a:xfrm>
          <a:prstGeom prst="rect">
            <a:avLst>
              <a:gd name="adj" fmla="val 10909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54589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Amber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4937760"/>
            <a:ext cx="502920" cy="502920"/>
          </a:xfrm>
          <a:prstGeom prst="rect">
            <a:avLst>
              <a:gd name="adj" fmla="val 10909"/>
            </a:avLst>
          </a:prstGeom>
          <a:solidFill>
            <a:srgbClr val="E7E2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545896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Off-White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09560" y="49377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warm, conversational, witty, authentically Indian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Rebranding 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EXECUTION PILLARS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Ambience &amp; Packaging Rituals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supply-chain changes required — fully compliant with budget &amp; operational constraints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394960" cy="4617720"/>
          </a:xfrm>
          <a:prstGeom prst="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539496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27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 ·  The Modern Adda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32304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31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Seating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5877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isolated counters with communal “Adda Tables” &amp; window seating for Gen-Z groups.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465576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64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Aesthetic Facelift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62102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upgrades: terracotta wall paint, wooden-finish furniture, warm-white lighting.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49884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982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Identity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6542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Indian indie/ambient playlists + aroma of fresh brewing spices at the door.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1627632"/>
            <a:ext cx="5394960" cy="4617720"/>
          </a:xfrm>
          <a:prstGeom prst="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627632"/>
            <a:ext cx="5394960" cy="548640"/>
          </a:xfrm>
          <a:prstGeom prst="rect">
            <a:avLst/>
          </a:prstGeom>
          <a:solidFill>
            <a:srgbClr val="5C7A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627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 ·  Distinctly Indian, Shareable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23408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Kulhad Eco-Sleeves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26151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Kulhad/earthen-print sleeves with witty proverbs &amp; ice-breaker prompts.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73952" y="316382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Pairing Combos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34381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Morning Rush — Adrak Chai + Bun Maska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73952" y="3730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⛈️ Monsoon Adda — Masala Chai + Samosa Pair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Afternoon Brief — Elaichi Chai + Biscuits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73952" y="44074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Distinction (23% delivery share)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4681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Thermal-insulated cup sleeves so takeaway chai arrives piping hot &amp; premium.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Rebranding 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EXECUTION PILLAR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Micro-Loyalty &amp; Community Activation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234440"/>
          </a:xfrm>
          <a:prstGeom prst="rect">
            <a:avLst>
              <a:gd name="adj" fmla="val 4444"/>
            </a:avLst>
          </a:prstGeom>
          <a:solidFill>
            <a:srgbClr val="7A34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CHAI-PASS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micro-subscription — 10 Chais for ₹499/month via a lightweight QR card / web app.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0" cy="86868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55448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→ target habit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turn casual visits into a fixed daily routine, driving repeat transactions back above 55%.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394960" cy="3429000"/>
          </a:xfrm>
          <a:prstGeom prst="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COMMUNITY ACTIVATION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Adda Nights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1304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acoustic open-mics, board game nights &amp; local student art showcases in off-peak evening hours.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Campus Micro-Partnerships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04748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co-working spaces, colleges &amp; offices within a 2 km radius for bulk afternoon break orders.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2834640"/>
            <a:ext cx="5394960" cy="3429000"/>
          </a:xfrm>
          <a:prstGeom prst="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GUERRILLA SOCIAL MARKETING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73952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“Chai &amp; Charcha” Prompt Wall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3840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chalk/cork board in every store where customers leave sticky notes, doodles &amp; local proverbs — creating user-generated content for social media at zero ad cost.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73952" y="4937760"/>
            <a:ext cx="4937760" cy="1051560"/>
          </a:xfrm>
          <a:prstGeom prst="rect">
            <a:avLst>
              <a:gd name="adj" fmla="val 4348"/>
            </a:avLst>
          </a:prstGeom>
          <a:solidFill>
            <a:srgbClr val="F3EAE0"/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49377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 spend — the wall itself becomes shareable, photographable content that markets the brand organically.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Rebranding Strategy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ROADMAP &amp;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Growth Roadmap &amp; Constraint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417320"/>
          </a:xfrm>
          <a:prstGeom prst="rect">
            <a:avLst>
              <a:gd name="adj" fmla="val 3871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RE-ANCHOR (2027)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Chai-Pass, kulhad packaging &amp; store facelift in top 6 high-footfall outlets.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96512" y="2011680"/>
            <a:ext cx="219456" cy="22860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417320"/>
            <a:ext cx="3566160" cy="1417320"/>
          </a:xfrm>
          <a:prstGeom prst="rect">
            <a:avLst>
              <a:gd name="adj" fmla="val 3871"/>
            </a:avLst>
          </a:prstGeom>
          <a:solidFill>
            <a:srgbClr val="5C7A3C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27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 (2028)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30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Modern Adda redesign across all 18 outlets; launch Weekend Adda events &amp; corporate combos.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45552" y="2011680"/>
            <a:ext cx="219456" cy="22860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417320"/>
            <a:ext cx="3566160" cy="1417320"/>
          </a:xfrm>
          <a:prstGeom prst="rect">
            <a:avLst>
              <a:gd name="adj" fmla="val 3871"/>
            </a:avLst>
          </a:prstGeom>
          <a:solidFill>
            <a:srgbClr val="7A34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27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EXPAND (2029)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1305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25+ stores across 4 cities under the new brand identity.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PERFORMANCE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7223760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747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4747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34747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TARGET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7856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7856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₹15.9 Cr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37856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₹24.5 Cr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7223760" cy="329184"/>
          </a:xfrm>
          <a:prstGeom prst="rect">
            <a:avLst/>
          </a:prstGeom>
          <a:solidFill>
            <a:srgbClr val="F3EAE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148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Transaction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1148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1148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44398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Share (18–24)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44439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4439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&gt;32%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73168"/>
            <a:ext cx="7223760" cy="329184"/>
          </a:xfrm>
          <a:prstGeom prst="rect">
            <a:avLst/>
          </a:prstGeom>
          <a:solidFill>
            <a:srgbClr val="F3EAE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7731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Score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47731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477316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" y="51023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Visits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51023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51023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924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COMPLIANCE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3474720"/>
            <a:ext cx="3520440" cy="195681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3703320"/>
            <a:ext cx="256032" cy="256032"/>
          </a:xfrm>
          <a:prstGeom prst="ellipse">
            <a:avLst/>
          </a:prstGeom>
          <a:solidFill>
            <a:srgbClr val="5C7A3C"/>
          </a:solidFill>
          <a:ln/>
        </p:spPr>
      </p:sp>
      <p:sp>
        <p:nvSpPr>
          <p:cNvPr id="43" name="Text 41"/>
          <p:cNvSpPr/>
          <p:nvPr/>
        </p:nvSpPr>
        <p:spPr>
          <a:xfrm>
            <a:off x="8275320" y="3703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13648" y="364845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Recognisably Indian &amp; chai-led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75320" y="4270248"/>
            <a:ext cx="256032" cy="256032"/>
          </a:xfrm>
          <a:prstGeom prst="ellipse">
            <a:avLst/>
          </a:prstGeom>
          <a:solidFill>
            <a:srgbClr val="5C7A3C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4270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13648" y="421538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unchanged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75320" y="4837176"/>
            <a:ext cx="256032" cy="256032"/>
          </a:xfrm>
          <a:prstGeom prst="ellipse">
            <a:avLst/>
          </a:prstGeom>
          <a:solidFill>
            <a:srgbClr val="5C7A3C"/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4837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13648" y="478231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high-budget advertising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 Rebranding Strategy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2026-09-22T13:44:06Z</dcterms:created>
  <dcterms:modified xsi:type="dcterms:W3CDTF">2026-09-22T13:44:06Z</dcterms:modified>
</cp:coreProperties>
</file>