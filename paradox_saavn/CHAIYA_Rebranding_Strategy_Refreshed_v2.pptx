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solidFill>
            <a:srgbClr val="FCF8F0"/>
          </a:solidFill>
          <a:ln>
            <a:solidFill>
              <a:srgbClr val="FC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53035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RE:BRAND STRATEGY  ·  SAAVAN 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126480" cy="9144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5400" b="1">
                <a:solidFill>
                  <a:srgbClr val="2F4A3D"/>
                </a:solidFill>
                <a:latin typeface="Aptos Display"/>
              </a:defRPr>
            </a:pPr>
            <a:r>
              <a:t>CHAIYA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621792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500" b="1">
                <a:solidFill>
                  <a:srgbClr val="3A2A22"/>
                </a:solidFill>
                <a:latin typeface="Georgia"/>
              </a:defRPr>
            </a:pPr>
            <a:r>
              <a:t>Chai, Charcha, &amp; CHAIYA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17520"/>
            <a:ext cx="585216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900" b="0">
                <a:solidFill>
                  <a:srgbClr val="716354"/>
                </a:solidFill>
                <a:latin typeface="Aptos"/>
              </a:defRPr>
            </a:pPr>
            <a:r>
              <a:t>From a neighbourhood stop to a place people choose to stay.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77639"/>
            <a:ext cx="1188720" cy="384048"/>
          </a:xfrm>
          <a:prstGeom prst="roundRect">
            <a:avLst/>
          </a:prstGeom>
          <a:solidFill>
            <a:srgbClr val="B96542"/>
          </a:solidFill>
          <a:ln>
            <a:solidFill>
              <a:srgbClr val="B96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1887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DF7"/>
                </a:solidFill>
                <a:latin typeface="Aptos"/>
              </a:defRPr>
            </a:pPr>
            <a:r>
              <a:t>WARM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9967" y="3977639"/>
            <a:ext cx="1188720" cy="384048"/>
          </a:xfrm>
          <a:prstGeom prst="round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7" y="3977639"/>
            <a:ext cx="11887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DF7"/>
                </a:solidFill>
                <a:latin typeface="Aptos"/>
              </a:defRPr>
            </a:pPr>
            <a:r>
              <a:t>SOCIAL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3977639"/>
            <a:ext cx="1188720" cy="384048"/>
          </a:xfrm>
          <a:prstGeom prst="roundRect">
            <a:avLst/>
          </a:prstGeom>
          <a:solidFill>
            <a:srgbClr val="D89A45"/>
          </a:solidFill>
          <a:ln>
            <a:solidFill>
              <a:srgbClr val="D8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3977639"/>
            <a:ext cx="11887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DF7"/>
                </a:solidFill>
                <a:latin typeface="Aptos"/>
              </a:defRPr>
            </a:pPr>
            <a:r>
              <a:t>INDIAN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709160"/>
            <a:ext cx="576072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0">
                <a:solidFill>
                  <a:srgbClr val="3A2A22"/>
                </a:solidFill>
                <a:latin typeface="Aptos"/>
              </a:defRPr>
            </a:pPr>
            <a:r>
              <a:t>A simple 3-year plan to make chai feel like an everyday adda again.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23560"/>
            <a:ext cx="576072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0">
                <a:solidFill>
                  <a:srgbClr val="716354"/>
                </a:solidFill>
                <a:latin typeface="Aptos"/>
              </a:defRPr>
            </a:pPr>
            <a:r>
              <a:t>Built around the existing constraints: no supply-chain change, no big ad budget.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2F4A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8356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5EEDE"/>
                </a:solidFill>
                <a:latin typeface="Aptos"/>
              </a:rPr>
              <a:t>Made by :-  Ramrup Satpati  |  IIT Madras  |  CC BY-SA 4.0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1148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800" b="1">
                <a:solidFill>
                  <a:srgbClr val="2F4A3D"/>
                </a:solidFill>
                <a:latin typeface="Aptos Display"/>
              </a:defRPr>
            </a:pPr>
            <a:r>
              <a:t>The problem, in one sip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2412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716354"/>
                </a:solidFill>
                <a:latin typeface="Aptos"/>
              </a:defRPr>
            </a:pPr>
            <a:r>
              <a:t>The numbers say CHAIYA is being visited — but not being chosen.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51460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76272"/>
            <a:ext cx="219456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500" b="1">
                <a:solidFill>
                  <a:srgbClr val="2F4A3D"/>
                </a:solidFill>
                <a:latin typeface="Aptos"/>
              </a:defRPr>
            </a:pPr>
            <a:r>
              <a:t>₹15.9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7004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3A2A22"/>
                </a:solidFill>
                <a:latin typeface="Aptos"/>
              </a:defRPr>
            </a:pPr>
            <a:r>
              <a:t>2026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99232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000" b="0">
                <a:solidFill>
                  <a:srgbClr val="716354"/>
                </a:solidFill>
                <a:latin typeface="Aptos"/>
              </a:defRPr>
            </a:pPr>
            <a:r>
              <a:t>down from ₹16.8 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965960"/>
            <a:ext cx="251460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176272"/>
            <a:ext cx="219456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500" b="1">
                <a:solidFill>
                  <a:srgbClr val="2F4A3D"/>
                </a:solidFill>
                <a:latin typeface="Aptos"/>
              </a:defRPr>
            </a:pPr>
            <a:r>
              <a:t>47%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67004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3A2A22"/>
                </a:solidFill>
                <a:latin typeface="Aptos"/>
              </a:defRPr>
            </a:pPr>
            <a:r>
              <a:t>repeat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999232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000" b="0">
                <a:solidFill>
                  <a:srgbClr val="716354"/>
                </a:solidFill>
                <a:latin typeface="Aptos"/>
              </a:defRPr>
            </a:pPr>
            <a:r>
              <a:t>down from 52%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65960"/>
            <a:ext cx="251460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176272"/>
            <a:ext cx="219456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500" b="1">
                <a:solidFill>
                  <a:srgbClr val="2F4A3D"/>
                </a:solidFill>
                <a:latin typeface="Aptos"/>
              </a:defRPr>
            </a:pPr>
            <a:r>
              <a:t>23%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67004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3A2A22"/>
                </a:solidFill>
                <a:latin typeface="Aptos"/>
              </a:defRPr>
            </a:pPr>
            <a:r>
              <a:t>Gen-Z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999232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000" b="0">
                <a:solidFill>
                  <a:srgbClr val="716354"/>
                </a:solidFill>
                <a:latin typeface="Aptos"/>
              </a:defRPr>
            </a:pPr>
            <a:r>
              <a:t>down from 31%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19" y="1965960"/>
            <a:ext cx="251460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1" y="2176272"/>
            <a:ext cx="219456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500" b="1">
                <a:solidFill>
                  <a:srgbClr val="2F4A3D"/>
                </a:solidFill>
                <a:latin typeface="Aptos"/>
              </a:defRPr>
            </a:pPr>
            <a:r>
              <a:t>17%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1" y="267004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3A2A22"/>
                </a:solidFill>
                <a:latin typeface="Aptos"/>
              </a:defRPr>
            </a:pPr>
            <a:r>
              <a:t>distinctive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999232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000" b="0">
                <a:solidFill>
                  <a:srgbClr val="716354"/>
                </a:solidFill>
                <a:latin typeface="Aptos"/>
              </a:defRPr>
            </a:pPr>
            <a:r>
              <a:t>down from 29%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10972800" cy="1508760"/>
          </a:xfrm>
          <a:prstGeom prst="round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96512"/>
            <a:ext cx="283464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D89A45"/>
                </a:solidFill>
                <a:latin typeface="Aptos"/>
              </a:defRPr>
            </a:pPr>
            <a:r>
              <a:t>What is really happening?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98848"/>
            <a:ext cx="996696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700" b="1">
                <a:solidFill>
                  <a:srgbClr val="FFFDF7"/>
                </a:solidFill>
                <a:latin typeface="Aptos"/>
              </a:defRPr>
            </a:pPr>
            <a:r>
              <a:t>People see CHAIYA as convenient, not special. The chai works — the brand does not give them enough reason to come back, bring friends, or share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96128"/>
            <a:ext cx="98755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3A2A22"/>
                </a:solidFill>
                <a:latin typeface="Aptos"/>
              </a:defRPr>
            </a:pPr>
            <a:r>
              <a:t>So the job is not “sell more chai.”  It is “make the chai break worth choosing.”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716354"/>
                </a:solidFill>
                <a:latin typeface="Aptos"/>
              </a:defRPr>
            </a:pPr>
            <a:r>
              <a:t>CHAIYA  ·  SAAVAN '26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2F4A3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1148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02 · THE NEW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800" b="1">
                <a:solidFill>
                  <a:srgbClr val="2F4A3D"/>
                </a:solidFill>
                <a:latin typeface="Aptos Display"/>
              </a:defRPr>
            </a:pPr>
            <a:r>
              <a:t>Make CHAIYA the everyday adda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2412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716354"/>
                </a:solidFill>
                <a:latin typeface="Aptos"/>
              </a:defRPr>
            </a:pPr>
            <a:r>
              <a:t>Keep the affordability of neighbourhood chai — add the feeling of a place people belong.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5212080" cy="205740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972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8608"/>
            <a:ext cx="448056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200" b="1">
                <a:solidFill>
                  <a:srgbClr val="3A2A22"/>
                </a:solidFill>
                <a:latin typeface="Georgia"/>
              </a:defRPr>
            </a:pPr>
            <a:r>
              <a:t>“Grab a quick chai and go.”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18688"/>
            <a:ext cx="43891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0">
                <a:solidFill>
                  <a:srgbClr val="716354"/>
                </a:solidFill>
                <a:latin typeface="Aptos"/>
              </a:defRPr>
            </a:pPr>
            <a:r>
              <a:t>Useful. Convenient. Easy to replace.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920240"/>
            <a:ext cx="5532120" cy="2057400"/>
          </a:xfrm>
          <a:prstGeom prst="round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146304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D89A45"/>
                </a:solidFill>
                <a:latin typeface="Aptos"/>
              </a:defRPr>
            </a:pPr>
            <a:r>
              <a:t>TOMORROW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78608"/>
            <a:ext cx="4754880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200" b="1">
                <a:solidFill>
                  <a:srgbClr val="FFFDF7"/>
                </a:solidFill>
                <a:latin typeface="Georgia"/>
              </a:defRPr>
            </a:pPr>
            <a:r>
              <a:t>“Chai, charcha, and a place to stay.”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218688"/>
            <a:ext cx="43891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0">
                <a:solidFill>
                  <a:srgbClr val="F7F0E4"/>
                </a:solidFill>
                <a:latin typeface="Aptos"/>
              </a:defRPr>
            </a:pPr>
            <a:r>
              <a:t>Warm. Social. Indian. Shareable.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18288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Brand promise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54864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3100" b="1">
                <a:solidFill>
                  <a:srgbClr val="2F4A3D"/>
                </a:solidFill>
                <a:latin typeface="Aptos Display"/>
              </a:defRPr>
            </a:pPr>
            <a:r>
              <a:t>India’s daily social brew.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440680"/>
            <a:ext cx="502920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3A2A22"/>
                </a:solidFill>
                <a:latin typeface="Aptos"/>
              </a:defRPr>
            </a:pPr>
            <a:r>
              <a:t>Tagline  ·  Chai, Charcha, &amp; CHAIYA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617720"/>
            <a:ext cx="1024128" cy="1024128"/>
          </a:xfrm>
          <a:prstGeom prst="roundRect">
            <a:avLst/>
          </a:prstGeom>
          <a:solidFill>
            <a:srgbClr val="B96542"/>
          </a:solidFill>
          <a:ln>
            <a:solidFill>
              <a:srgbClr val="B96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5650992"/>
            <a:ext cx="1024128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716354"/>
                </a:solidFill>
                <a:latin typeface="Aptos"/>
              </a:defRPr>
            </a:pPr>
            <a:r>
              <a:t>Terracotta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617720"/>
            <a:ext cx="1024128" cy="1024128"/>
          </a:xfrm>
          <a:prstGeom prst="round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650992"/>
            <a:ext cx="1024128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716354"/>
                </a:solidFill>
                <a:latin typeface="Aptos"/>
              </a:defRPr>
            </a:pPr>
            <a:r>
              <a:t>Cardamom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4617720"/>
            <a:ext cx="1024128" cy="1024128"/>
          </a:xfrm>
          <a:prstGeom prst="roundRect">
            <a:avLst/>
          </a:prstGeom>
          <a:solidFill>
            <a:srgbClr val="D89A45"/>
          </a:solidFill>
          <a:ln>
            <a:solidFill>
              <a:srgbClr val="D8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5650992"/>
            <a:ext cx="1024128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716354"/>
                </a:solidFill>
                <a:latin typeface="Aptos"/>
              </a:defRPr>
            </a:pPr>
            <a:r>
              <a:t>Warm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4617720"/>
            <a:ext cx="1024128" cy="1024128"/>
          </a:xfrm>
          <a:prstGeom prst="roundRect">
            <a:avLst/>
          </a:prstGeom>
          <a:solidFill>
            <a:srgbClr val="F7F0E4"/>
          </a:solidFill>
          <a:ln>
            <a:solidFill>
              <a:srgbClr val="F7F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5650992"/>
            <a:ext cx="1024128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716354"/>
                </a:solidFill>
                <a:latin typeface="Aptos"/>
              </a:defRPr>
            </a:pPr>
            <a:r>
              <a:t>Off-White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716354"/>
                </a:solidFill>
                <a:latin typeface="Aptos"/>
              </a:defRPr>
            </a:pPr>
            <a:r>
              <a:t>CHAIYA  ·  SAAVAN '26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2F4A3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1148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03 · WHO WE WANT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800" b="1">
                <a:solidFill>
                  <a:srgbClr val="2F4A3D"/>
                </a:solidFill>
                <a:latin typeface="Aptos Display"/>
              </a:defRPr>
            </a:pPr>
            <a:r>
              <a:t>Two customers. One reason to stay.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2412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716354"/>
                </a:solidFill>
                <a:latin typeface="Aptos"/>
              </a:defRPr>
            </a:pPr>
            <a:r>
              <a:t>CHAIYA should work for the college crowd at 5 PM and the office crowd at 11 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5257800" cy="347472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5257800" cy="137160"/>
          </a:xfrm>
          <a:prstGeom prst="rect">
            <a:avLst/>
          </a:prstGeom>
          <a:solidFill>
            <a:srgbClr val="B96542"/>
          </a:solidFill>
          <a:ln>
            <a:solidFill>
              <a:srgbClr val="B96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4805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B96542"/>
                </a:solidFill>
                <a:latin typeface="Aptos"/>
              </a:defRPr>
            </a:pPr>
            <a:r>
              <a:t>THE CAMPUS ADDA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128016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500" b="1">
                <a:solidFill>
                  <a:srgbClr val="3A2A22"/>
                </a:solidFill>
                <a:latin typeface="Aptos"/>
              </a:defRPr>
            </a:pPr>
            <a:r>
              <a:t>18–24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788920"/>
            <a:ext cx="320040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500" b="1">
                <a:solidFill>
                  <a:srgbClr val="3A2A22"/>
                </a:solidFill>
                <a:latin typeface="Aptos"/>
              </a:defRPr>
            </a:pPr>
            <a:r>
              <a:t>Students &amp; young creators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9144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000" b="1">
                <a:solidFill>
                  <a:srgbClr val="716354"/>
                </a:solidFill>
                <a:latin typeface="Aptos"/>
              </a:defRPr>
            </a:pPr>
            <a:r>
              <a:t>They want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383280"/>
            <a:ext cx="36576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500" b="1">
                <a:solidFill>
                  <a:srgbClr val="2F4A3D"/>
                </a:solidFill>
                <a:latin typeface="Aptos"/>
              </a:defRPr>
            </a:pPr>
            <a:r>
              <a:t>Affordable + aesthetic + social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9144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000" b="1">
                <a:solidFill>
                  <a:srgbClr val="716354"/>
                </a:solidFill>
                <a:latin typeface="Aptos"/>
              </a:defRPr>
            </a:pPr>
            <a:r>
              <a:t>Design cue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069080"/>
            <a:ext cx="3749039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3A2A22"/>
                </a:solidFill>
                <a:latin typeface="Aptos"/>
              </a:defRPr>
            </a:pPr>
            <a:r>
              <a:t>Adda tables · window seats · prompts · music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65960"/>
            <a:ext cx="5257800" cy="347472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965960"/>
            <a:ext cx="5257800" cy="137160"/>
          </a:xfrm>
          <a:prstGeom prst="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44805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2F4A3D"/>
                </a:solidFill>
                <a:latin typeface="Aptos"/>
              </a:defRPr>
            </a:pPr>
            <a:r>
              <a:t>THE DAILY BREAK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128016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500" b="1">
                <a:solidFill>
                  <a:srgbClr val="3A2A22"/>
                </a:solidFill>
                <a:latin typeface="Aptos"/>
              </a:defRPr>
            </a:pPr>
            <a:r>
              <a:t>25–34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788920"/>
            <a:ext cx="320040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500" b="1">
                <a:solidFill>
                  <a:srgbClr val="3A2A22"/>
                </a:solidFill>
                <a:latin typeface="Aptos"/>
              </a:defRPr>
            </a:pPr>
            <a:r>
              <a:t>Young professionals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29000"/>
            <a:ext cx="9144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000" b="1">
                <a:solidFill>
                  <a:srgbClr val="716354"/>
                </a:solidFill>
                <a:latin typeface="Aptos"/>
              </a:defRPr>
            </a:pPr>
            <a:r>
              <a:t>They want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383280"/>
            <a:ext cx="36576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500" b="1">
                <a:solidFill>
                  <a:srgbClr val="2F4A3D"/>
                </a:solidFill>
                <a:latin typeface="Aptos"/>
              </a:defRPr>
            </a:pPr>
            <a:r>
              <a:t>Reliable + comfortable + quick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60520"/>
            <a:ext cx="9144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000" b="1">
                <a:solidFill>
                  <a:srgbClr val="716354"/>
                </a:solidFill>
                <a:latin typeface="Aptos"/>
              </a:defRPr>
            </a:pPr>
            <a:r>
              <a:t>Design cue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069080"/>
            <a:ext cx="3749039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3A2A22"/>
                </a:solidFill>
                <a:latin typeface="Aptos"/>
              </a:defRPr>
            </a:pPr>
            <a:r>
              <a:t>Fast combos · QR ordering · comfortable micro-meets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600" b="1">
                <a:solidFill>
                  <a:srgbClr val="2F4A3D"/>
                </a:solidFill>
                <a:latin typeface="Aptos"/>
              </a:defRPr>
            </a:pPr>
            <a:r>
              <a:t>Same brand. Different moment. Same feeling: “I like being here.”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716354"/>
                </a:solidFill>
                <a:latin typeface="Aptos"/>
              </a:defRPr>
            </a:pPr>
            <a:r>
              <a:t>CHAIYA  ·  SAAVAN '26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2F4A3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1148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04 ·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800" b="1">
                <a:solidFill>
                  <a:srgbClr val="2F4A3D"/>
                </a:solidFill>
                <a:latin typeface="Aptos Display"/>
              </a:defRPr>
            </a:pPr>
            <a:r>
              <a:t>Turn the store into a modern adda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2412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716354"/>
                </a:solidFill>
                <a:latin typeface="Aptos"/>
              </a:defRPr>
            </a:pPr>
            <a:r>
              <a:t>No expensive rebuild. Small changes that make the room feel warmer, more social, and more memorable.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525780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67128"/>
            <a:ext cx="5029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B9654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3931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500" b="1">
                <a:solidFill>
                  <a:srgbClr val="2F4A3D"/>
                </a:solidFill>
                <a:latin typeface="Aptos"/>
              </a:defRPr>
            </a:pPr>
            <a:r>
              <a:t>Sit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32888"/>
            <a:ext cx="406908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0">
                <a:solidFill>
                  <a:srgbClr val="3A2A22"/>
                </a:solidFill>
                <a:latin typeface="Aptos"/>
              </a:defRPr>
            </a:pPr>
            <a:r>
              <a:t>Add communal Adda Tables and window seats instead of only quick-service counters.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25780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67128"/>
            <a:ext cx="5029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B965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48840"/>
            <a:ext cx="3931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500" b="1">
                <a:solidFill>
                  <a:srgbClr val="2F4A3D"/>
                </a:solidFill>
                <a:latin typeface="Aptos"/>
              </a:defRPr>
            </a:pPr>
            <a:r>
              <a:t>Warm it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532888"/>
            <a:ext cx="406908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0">
                <a:solidFill>
                  <a:srgbClr val="3A2A22"/>
                </a:solidFill>
                <a:latin typeface="Aptos"/>
              </a:defRPr>
            </a:pPr>
            <a:r>
              <a:t>Use terracotta paint, wood-look finishes and warm-white lighting.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94760"/>
            <a:ext cx="525780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95928"/>
            <a:ext cx="5029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B965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77640"/>
            <a:ext cx="3931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500" b="1">
                <a:solidFill>
                  <a:srgbClr val="2F4A3D"/>
                </a:solidFill>
                <a:latin typeface="Aptos"/>
              </a:defRPr>
            </a:pPr>
            <a:r>
              <a:t>Make it sound Indian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61688"/>
            <a:ext cx="406908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0">
                <a:solidFill>
                  <a:srgbClr val="3A2A22"/>
                </a:solidFill>
                <a:latin typeface="Aptos"/>
              </a:defRPr>
            </a:pPr>
            <a:r>
              <a:t>Play curated indie / ambient tracks and let the smell of fresh spices greet customers.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25780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95928"/>
            <a:ext cx="5029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B9654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977640"/>
            <a:ext cx="3931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500" b="1">
                <a:solidFill>
                  <a:srgbClr val="2F4A3D"/>
                </a:solidFill>
                <a:latin typeface="Aptos"/>
              </a:defRPr>
            </a:pPr>
            <a:r>
              <a:t>Give people something 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361688"/>
            <a:ext cx="406908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0">
                <a:solidFill>
                  <a:srgbClr val="3A2A22"/>
                </a:solidFill>
                <a:latin typeface="Aptos"/>
              </a:defRPr>
            </a:pPr>
            <a:r>
              <a:t>Use a prompt wall for doodles, questions, local jokes and proverbs.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600" b="1">
                <a:solidFill>
                  <a:srgbClr val="2F4A3D"/>
                </a:solidFill>
                <a:latin typeface="Aptos"/>
              </a:defRPr>
            </a:pPr>
            <a:r>
              <a:t>Think: “less café furniture, more neighbourhood living room.”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716354"/>
                </a:solidFill>
                <a:latin typeface="Aptos"/>
              </a:defRPr>
            </a:pPr>
            <a:r>
              <a:t>CHAIYA  ·  SAAVAN '26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2F4A3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1148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05 ·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800" b="1">
                <a:solidFill>
                  <a:srgbClr val="2F4A3D"/>
                </a:solidFill>
                <a:latin typeface="Aptos Display"/>
              </a:defRPr>
            </a:pPr>
            <a:r>
              <a:t>Make the cup do some of the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2412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716354"/>
                </a:solidFill>
                <a:latin typeface="Aptos"/>
              </a:defRPr>
            </a:pPr>
            <a:r>
              <a:t>Every takeaway cup can carry the CHAIYA personality — without changing the supply 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743200" cy="3474720"/>
          </a:xfrm>
          <a:prstGeom prst="round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2423160"/>
            <a:ext cx="1645920" cy="2011680"/>
          </a:xfrm>
          <a:prstGeom prst="roundRect">
            <a:avLst/>
          </a:prstGeom>
          <a:solidFill>
            <a:srgbClr val="FCF8F0"/>
          </a:solidFill>
          <a:ln>
            <a:solidFill>
              <a:srgbClr val="FC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788920"/>
            <a:ext cx="128016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2000" b="1">
                <a:solidFill>
                  <a:srgbClr val="2F4A3D"/>
                </a:solidFill>
                <a:latin typeface="Aptos"/>
              </a:defRPr>
            </a:pPr>
            <a:r>
              <a:t>CHAIYA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337560"/>
            <a:ext cx="1280160" cy="7315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B96542"/>
                </a:solidFill>
                <a:latin typeface="Aptos"/>
              </a:defRPr>
            </a:pPr>
            <a:r>
              <a:t>CHAI</a:t>
            </a:r>
            <a:br/>
            <a:r>
              <a:t>CHARCHA</a:t>
            </a:r>
            <a:br/>
            <a:r>
              <a:t>&amp; CHAIYA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160520"/>
            <a:ext cx="128016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900" b="0">
                <a:solidFill>
                  <a:srgbClr val="716354"/>
                </a:solidFill>
                <a:latin typeface="Aptos"/>
              </a:defRPr>
            </a:pPr>
            <a:r>
              <a:t>a little chai</a:t>
            </a:r>
            <a:br/>
            <a:r>
              <a:t>for a lot of talk.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965960"/>
            <a:ext cx="2743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SIGNATURE COMBOS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468880"/>
            <a:ext cx="182880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2F4A3D"/>
                </a:solidFill>
                <a:latin typeface="Aptos"/>
              </a:defRPr>
            </a:pPr>
            <a:r>
              <a:t>Morning Rush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468880"/>
            <a:ext cx="420624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3A2A22"/>
                </a:solidFill>
                <a:latin typeface="Aptos"/>
              </a:defRPr>
            </a:pPr>
            <a:r>
              <a:t>Adrak Chai + Bun Maska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383280"/>
            <a:ext cx="182880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2F4A3D"/>
                </a:solidFill>
                <a:latin typeface="Aptos"/>
              </a:defRPr>
            </a:pPr>
            <a:r>
              <a:t>Monsoon Adda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383280"/>
            <a:ext cx="420624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3A2A22"/>
                </a:solidFill>
                <a:latin typeface="Aptos"/>
              </a:defRPr>
            </a:pPr>
            <a:r>
              <a:t>Masala Chai + Samosa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297680"/>
            <a:ext cx="182880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2F4A3D"/>
                </a:solidFill>
                <a:latin typeface="Aptos"/>
              </a:defRPr>
            </a:pPr>
            <a:r>
              <a:t>Afternoon 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297680"/>
            <a:ext cx="420624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3A2A22"/>
                </a:solidFill>
                <a:latin typeface="Aptos"/>
              </a:defRPr>
            </a:pPr>
            <a:r>
              <a:t>Elaichi Chai + Biscuits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5394960"/>
            <a:ext cx="9144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5257800"/>
            <a:ext cx="5760720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3A2A22"/>
                </a:solidFill>
                <a:latin typeface="Aptos"/>
              </a:defRPr>
            </a:pPr>
            <a:r>
              <a:t>Use insulated sleeves so takeaway chai reaches customers hot and feels premium.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716354"/>
                </a:solidFill>
                <a:latin typeface="Aptos"/>
              </a:defRPr>
            </a:pPr>
            <a:r>
              <a:t>CHAIYA  ·  SAAVAN '26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2F4A3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1148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06 ·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800" b="1">
                <a:solidFill>
                  <a:srgbClr val="2F4A3D"/>
                </a:solidFill>
                <a:latin typeface="Aptos Display"/>
              </a:defRPr>
            </a:pPr>
            <a:r>
              <a:t>Turn chai into a habit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2412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716354"/>
                </a:solidFill>
                <a:latin typeface="Aptos"/>
              </a:defRPr>
            </a:pPr>
            <a:r>
              <a:t>The goal: move people from “I’m nearby” to “I always come here.”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657600" cy="3566160"/>
          </a:xfrm>
          <a:prstGeom prst="round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2800" b="1">
                <a:solidFill>
                  <a:srgbClr val="D89A45"/>
                </a:solidFill>
                <a:latin typeface="Aptos Display"/>
              </a:defRPr>
            </a:pPr>
            <a:r>
              <a:t>CHAI-PASS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926080" cy="9144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2500" b="1">
                <a:solidFill>
                  <a:srgbClr val="FFFDF7"/>
                </a:solidFill>
                <a:latin typeface="Aptos"/>
              </a:defRPr>
            </a:pPr>
            <a:r>
              <a:t>10 chais</a:t>
            </a:r>
            <a:br/>
            <a:r>
              <a:t>₹499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292608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100" b="0">
                <a:solidFill>
                  <a:srgbClr val="F7F0E4"/>
                </a:solidFill>
                <a:latin typeface="Aptos"/>
              </a:defRPr>
            </a:pPr>
            <a:r>
              <a:t>Simple QR card /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9260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300" b="1">
                <a:solidFill>
                  <a:srgbClr val="FFFDF7"/>
                </a:solidFill>
                <a:latin typeface="Aptos"/>
              </a:defRPr>
            </a:pPr>
            <a:r>
              <a:t>A small subscription that creates a repeat habit.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6217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MAKE THE NEIGHBOURHOOD PART OF CHAIYA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3317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2F4A3D"/>
                </a:solidFill>
                <a:latin typeface="Aptos"/>
              </a:defRPr>
            </a:pPr>
            <a:r>
              <a:t>Weekend Adda Nights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487168"/>
            <a:ext cx="3749039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0">
                <a:solidFill>
                  <a:srgbClr val="3A2A22"/>
                </a:solidFill>
                <a:latin typeface="Aptos"/>
              </a:defRPr>
            </a:pPr>
            <a:r>
              <a:t>Acoustic sets, board games and student art in quiet evening hours.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74720"/>
            <a:ext cx="23317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2F4A3D"/>
                </a:solidFill>
                <a:latin typeface="Aptos"/>
              </a:defRPr>
            </a:pPr>
            <a:r>
              <a:t>Campus + Office Deals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447288"/>
            <a:ext cx="3749039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0">
                <a:solidFill>
                  <a:srgbClr val="3A2A22"/>
                </a:solidFill>
                <a:latin typeface="Aptos"/>
              </a:defRPr>
            </a:pPr>
            <a:r>
              <a:t>Partner with colleges, co-working spaces and nearby offices for group orders.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34840"/>
            <a:ext cx="23317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2F4A3D"/>
                </a:solidFill>
                <a:latin typeface="Aptos"/>
              </a:defRPr>
            </a:pPr>
            <a:r>
              <a:t>Chai &amp; Charcha Wall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407407"/>
            <a:ext cx="3749039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0">
                <a:solidFill>
                  <a:srgbClr val="3A2A22"/>
                </a:solidFill>
                <a:latin typeface="Aptos"/>
              </a:defRPr>
            </a:pPr>
            <a:r>
              <a:t>Customers leave notes, doodles and local proverbs — easy content for social media.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532120"/>
            <a:ext cx="640080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2F4A3D"/>
                </a:solidFill>
                <a:latin typeface="Aptos"/>
              </a:defRPr>
            </a:pPr>
            <a:r>
              <a:t>Low cost. High participation. Built around the neighbourhood.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716354"/>
                </a:solidFill>
                <a:latin typeface="Aptos"/>
              </a:defRPr>
            </a:pPr>
            <a:r>
              <a:t>CHAIYA  ·  SAAVAN '26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2F4A3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1148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07 · 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800" b="1">
                <a:solidFill>
                  <a:srgbClr val="2F4A3D"/>
                </a:solidFill>
                <a:latin typeface="Aptos Display"/>
              </a:defRPr>
            </a:pPr>
            <a:r>
              <a:t>Three years. Three simple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2412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716354"/>
                </a:solidFill>
                <a:latin typeface="Aptos"/>
              </a:defRPr>
            </a:pPr>
            <a:r>
              <a:t>Start small, prove the habit, then scale what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246120" cy="338328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3246120" cy="146304"/>
          </a:xfrm>
          <a:prstGeom prst="rect">
            <a:avLst/>
          </a:prstGeom>
          <a:solidFill>
            <a:srgbClr val="B96542"/>
          </a:solidFill>
          <a:ln>
            <a:solidFill>
              <a:srgbClr val="B96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91440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400" b="1">
                <a:solidFill>
                  <a:srgbClr val="2F4A3D"/>
                </a:solidFill>
                <a:latin typeface="Aptos"/>
              </a:defRPr>
            </a:pPr>
            <a: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5603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1">
                <a:solidFill>
                  <a:srgbClr val="B96542"/>
                </a:solidFill>
                <a:latin typeface="Aptos"/>
              </a:defRPr>
            </a:pPr>
            <a:r>
              <a:t>RE-ANCHOR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2651760" cy="1417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0">
                <a:solidFill>
                  <a:srgbClr val="3A2A22"/>
                </a:solidFill>
                <a:latin typeface="Aptos"/>
              </a:defRPr>
            </a:pPr>
            <a:r>
              <a:t>Top 6 outlets</a:t>
            </a:r>
            <a:br/>
            <a:r>
              <a:t>• Chai-Pass</a:t>
            </a:r>
            <a:br/>
            <a:r>
              <a:t>• New sleeves</a:t>
            </a:r>
            <a:br/>
            <a:r>
              <a:t>• Store facelift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57400"/>
            <a:ext cx="3246120" cy="338328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057400"/>
            <a:ext cx="3246120" cy="146304"/>
          </a:xfrm>
          <a:prstGeom prst="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95728"/>
            <a:ext cx="91440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400" b="1">
                <a:solidFill>
                  <a:srgbClr val="2F4A3D"/>
                </a:solidFill>
                <a:latin typeface="Aptos"/>
              </a:defRPr>
            </a:pPr>
            <a: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80360"/>
            <a:ext cx="25603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1">
                <a:solidFill>
                  <a:srgbClr val="2F4A3D"/>
                </a:solidFill>
                <a:latin typeface="Aptos"/>
              </a:defRPr>
            </a:pPr>
            <a:r>
              <a:t>RE-ENGAGE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29000"/>
            <a:ext cx="2651760" cy="1417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0">
                <a:solidFill>
                  <a:srgbClr val="3A2A22"/>
                </a:solidFill>
                <a:latin typeface="Aptos"/>
              </a:defRPr>
            </a:pPr>
            <a:r>
              <a:t>All 18 outlets</a:t>
            </a:r>
            <a:br/>
            <a:r>
              <a:t>• Adda redesign</a:t>
            </a:r>
            <a:br/>
            <a:r>
              <a:t>• Weekend events</a:t>
            </a:r>
            <a:br/>
            <a:r>
              <a:t>• Corporate combos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057400"/>
            <a:ext cx="3246120" cy="3383280"/>
          </a:xfrm>
          <a:prstGeom prst="roundRect">
            <a:avLst/>
          </a:prstGeom>
          <a:solidFill>
            <a:srgbClr val="FFFDF7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2057400"/>
            <a:ext cx="3246120" cy="146304"/>
          </a:xfrm>
          <a:prstGeom prst="rect">
            <a:avLst/>
          </a:prstGeom>
          <a:solidFill>
            <a:srgbClr val="D89A45"/>
          </a:solidFill>
          <a:ln>
            <a:solidFill>
              <a:srgbClr val="D8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395728"/>
            <a:ext cx="91440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400" b="1">
                <a:solidFill>
                  <a:srgbClr val="2F4A3D"/>
                </a:solidFill>
                <a:latin typeface="Aptos"/>
              </a:defRPr>
            </a:pPr>
            <a: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880360"/>
            <a:ext cx="25603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1">
                <a:solidFill>
                  <a:srgbClr val="D89A45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429000"/>
            <a:ext cx="2651760" cy="1417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0">
                <a:solidFill>
                  <a:srgbClr val="3A2A22"/>
                </a:solidFill>
                <a:latin typeface="Aptos"/>
              </a:defRPr>
            </a:pPr>
            <a:r>
              <a:t>25+ stores</a:t>
            </a:r>
            <a:br/>
            <a:r>
              <a:t>4 cities</a:t>
            </a:r>
            <a:br/>
            <a:r>
              <a:t>• New identity everywhere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600" b="1">
                <a:solidFill>
                  <a:srgbClr val="2F4A3D"/>
                </a:solidFill>
                <a:latin typeface="Aptos"/>
              </a:defRPr>
            </a:pPr>
            <a:r>
              <a:t>Rule: scale the experience only after customers start choosing it again.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716354"/>
                </a:solidFill>
                <a:latin typeface="Aptos"/>
              </a:defRPr>
            </a:pPr>
            <a:r>
              <a:t>CHAIYA  ·  SAAVAN '26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2F4A3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1148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B96542"/>
                </a:solidFill>
                <a:latin typeface="Aptos"/>
              </a:defRPr>
            </a:pPr>
            <a:r>
              <a:t>08 ·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800" b="1">
                <a:solidFill>
                  <a:srgbClr val="2F4A3D"/>
                </a:solidFill>
                <a:latin typeface="Aptos Display"/>
              </a:defRPr>
            </a:pPr>
            <a:r>
              <a:t>What should improve by 2029?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2412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300" b="0">
                <a:solidFill>
                  <a:srgbClr val="716354"/>
                </a:solidFill>
                <a:latin typeface="Aptos"/>
              </a:defRPr>
            </a:pPr>
            <a:r>
              <a:t>The strategy has clear measures — so the rebrand is more than a new colour palette.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1945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3A2A22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874519"/>
            <a:ext cx="12801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300" b="1">
                <a:solidFill>
                  <a:srgbClr val="716354"/>
                </a:solidFill>
                <a:latin typeface="Aptos"/>
              </a:defRPr>
            </a:pPr>
            <a:r>
              <a:t>₹15.9 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920239"/>
            <a:ext cx="4206240" cy="228600"/>
          </a:xfrm>
          <a:prstGeom prst="roundRect">
            <a:avLst/>
          </a:prstGeom>
          <a:solidFill>
            <a:srgbClr val="DED0BD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920239"/>
            <a:ext cx="1892807" cy="228600"/>
          </a:xfrm>
          <a:prstGeom prst="roundRect">
            <a:avLst/>
          </a:prstGeom>
          <a:solidFill>
            <a:srgbClr val="B96542"/>
          </a:solidFill>
          <a:ln>
            <a:solidFill>
              <a:srgbClr val="B96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847088"/>
            <a:ext cx="1645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2F4A3D"/>
                </a:solidFill>
                <a:latin typeface="Aptos"/>
              </a:defRPr>
            </a:pPr>
            <a:r>
              <a:t>₹24.5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21945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3A2A22"/>
                </a:solidFill>
                <a:latin typeface="Aptos"/>
              </a:defRPr>
            </a:pPr>
            <a:r>
              <a:t>Repeat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633472"/>
            <a:ext cx="12801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300" b="1">
                <a:solidFill>
                  <a:srgbClr val="716354"/>
                </a:solidFill>
                <a:latin typeface="Aptos"/>
              </a:defRPr>
            </a:pPr>
            <a:r>
              <a:t>47%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679191"/>
            <a:ext cx="4206240" cy="228600"/>
          </a:xfrm>
          <a:prstGeom prst="roundRect">
            <a:avLst/>
          </a:prstGeom>
          <a:solidFill>
            <a:srgbClr val="DED0BD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679191"/>
            <a:ext cx="1976932" cy="228600"/>
          </a:xfrm>
          <a:prstGeom prst="roundRect">
            <a:avLst/>
          </a:prstGeom>
          <a:solidFill>
            <a:srgbClr val="B96542"/>
          </a:solidFill>
          <a:ln>
            <a:solidFill>
              <a:srgbClr val="B96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606040"/>
            <a:ext cx="1645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2F4A3D"/>
                </a:solidFill>
                <a:latin typeface="Aptos"/>
              </a:defRPr>
            </a:pPr>
            <a:r>
              <a:t>&gt;56%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92424"/>
            <a:ext cx="21945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3A2A22"/>
                </a:solidFill>
                <a:latin typeface="Aptos"/>
              </a:defRPr>
            </a:pPr>
            <a:r>
              <a:t>Gen-Z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392424"/>
            <a:ext cx="12801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300" b="1">
                <a:solidFill>
                  <a:srgbClr val="716354"/>
                </a:solidFill>
                <a:latin typeface="Aptos"/>
              </a:defRPr>
            </a:pPr>
            <a:r>
              <a:t>23%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438144"/>
            <a:ext cx="4206240" cy="228600"/>
          </a:xfrm>
          <a:prstGeom prst="roundRect">
            <a:avLst/>
          </a:prstGeom>
          <a:solidFill>
            <a:srgbClr val="DED0BD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6280" y="3438144"/>
            <a:ext cx="967435" cy="228600"/>
          </a:xfrm>
          <a:prstGeom prst="roundRect">
            <a:avLst/>
          </a:prstGeom>
          <a:solidFill>
            <a:srgbClr val="B96542"/>
          </a:solidFill>
          <a:ln>
            <a:solidFill>
              <a:srgbClr val="B96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364992"/>
            <a:ext cx="1645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2F4A3D"/>
                </a:solidFill>
                <a:latin typeface="Aptos"/>
              </a:defRPr>
            </a:pPr>
            <a:r>
              <a:t>&gt;32%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51375"/>
            <a:ext cx="21945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3A2A22"/>
                </a:solidFill>
                <a:latin typeface="Aptos"/>
              </a:defRPr>
            </a:pPr>
            <a:r>
              <a:t>Distinctive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151375"/>
            <a:ext cx="12801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300" b="1">
                <a:solidFill>
                  <a:srgbClr val="716354"/>
                </a:solidFill>
                <a:latin typeface="Aptos"/>
              </a:defRPr>
            </a:pPr>
            <a:r>
              <a:t>17%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4197095"/>
            <a:ext cx="4206240" cy="228600"/>
          </a:xfrm>
          <a:prstGeom prst="roundRect">
            <a:avLst/>
          </a:prstGeom>
          <a:solidFill>
            <a:srgbClr val="DED0BD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6280" y="4197095"/>
            <a:ext cx="715060" cy="228600"/>
          </a:xfrm>
          <a:prstGeom prst="roundRect">
            <a:avLst/>
          </a:prstGeom>
          <a:solidFill>
            <a:srgbClr val="B96542"/>
          </a:solidFill>
          <a:ln>
            <a:solidFill>
              <a:srgbClr val="B96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123943"/>
            <a:ext cx="1645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2F4A3D"/>
                </a:solidFill>
                <a:latin typeface="Aptos"/>
              </a:defRPr>
            </a:pPr>
            <a:r>
              <a:t>&gt;45%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10327"/>
            <a:ext cx="21945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3A2A22"/>
                </a:solidFill>
                <a:latin typeface="Aptos"/>
              </a:defRPr>
            </a:pPr>
            <a:r>
              <a:t>Monthly visits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910327"/>
            <a:ext cx="12801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300" b="1">
                <a:solidFill>
                  <a:srgbClr val="716354"/>
                </a:solidFill>
                <a:latin typeface="Aptos"/>
              </a:defRPr>
            </a:pPr>
            <a:r>
              <a:t>2.7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4956047"/>
            <a:ext cx="4206240" cy="228600"/>
          </a:xfrm>
          <a:prstGeom prst="roundRect">
            <a:avLst/>
          </a:prstGeom>
          <a:solidFill>
            <a:srgbClr val="DED0BD"/>
          </a:solidFill>
          <a:ln>
            <a:solidFill>
              <a:srgbClr val="DED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26280" y="4956047"/>
            <a:ext cx="1892807" cy="228600"/>
          </a:xfrm>
          <a:prstGeom prst="roundRect">
            <a:avLst/>
          </a:prstGeom>
          <a:solidFill>
            <a:srgbClr val="B96542"/>
          </a:solidFill>
          <a:ln>
            <a:solidFill>
              <a:srgbClr val="B96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882895"/>
            <a:ext cx="1645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2F4A3D"/>
                </a:solidFill>
                <a:latin typeface="Aptos"/>
              </a:defRPr>
            </a:pPr>
            <a:r>
              <a:t>3.8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806440"/>
            <a:ext cx="10789920" cy="457200"/>
          </a:xfrm>
          <a:prstGeom prst="round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FFFDF7"/>
                </a:solidFill>
                <a:latin typeface="Aptos"/>
              </a:defRPr>
            </a:pPr>
            <a:r>
              <a:t>✓ Indian &amp; chai-led     ✓ Supply chain unchanged     ✓ No high-budget advertising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716354"/>
                </a:solidFill>
                <a:latin typeface="Aptos"/>
              </a:defRPr>
            </a:pPr>
            <a:r>
              <a:t>CHAIYA  ·  SAAVAN '26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2F4A3D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i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0"/>
            <a:ext cx="459943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7955279" cy="6858000"/>
          </a:xfrm>
          <a:prstGeom prst="rect">
            <a:avLst/>
          </a:prstGeom>
          <a:solidFill>
            <a:srgbClr val="2F4A3D"/>
          </a:solidFill>
          <a:ln>
            <a:solidFill>
              <a:srgbClr val="2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201168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D89A45"/>
                </a:solidFill>
                <a:latin typeface="Aptos"/>
              </a:defRPr>
            </a:pPr>
            <a:r>
              <a:t>THE 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6492240" cy="1280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3900" b="1">
                <a:solidFill>
                  <a:srgbClr val="FFFDF7"/>
                </a:solidFill>
                <a:latin typeface="Aptos Display"/>
              </a:defRPr>
            </a:pPr>
            <a:r>
              <a:t>Don’t make CHAIYA</a:t>
            </a:r>
            <a:br/>
            <a:r>
              <a:t>look like a café.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6217920" cy="7772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2200" b="1">
                <a:solidFill>
                  <a:srgbClr val="F7F0E4"/>
                </a:solidFill>
                <a:latin typeface="Georgia"/>
              </a:defRPr>
            </a:pPr>
            <a:r>
              <a:t>Make it feel like the place where your people meet.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18872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D89A45"/>
                </a:solidFill>
                <a:latin typeface="Aptos"/>
              </a:defRPr>
            </a:pPr>
            <a:r>
              <a:t>CHAI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142232"/>
            <a:ext cx="48463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0">
                <a:solidFill>
                  <a:srgbClr val="FFFDF7"/>
                </a:solidFill>
                <a:latin typeface="Aptos"/>
              </a:defRPr>
            </a:pPr>
            <a:r>
              <a:t>The product stays familiar.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82312"/>
            <a:ext cx="118872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D89A45"/>
                </a:solidFill>
                <a:latin typeface="Aptos"/>
              </a:defRPr>
            </a:pPr>
            <a:r>
              <a:t>CHARCHA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64024"/>
            <a:ext cx="48463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0">
                <a:solidFill>
                  <a:srgbClr val="FFFDF7"/>
                </a:solidFill>
                <a:latin typeface="Aptos"/>
              </a:defRPr>
            </a:pPr>
            <a:r>
              <a:t>The experience becomes social.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118872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1">
                <a:solidFill>
                  <a:srgbClr val="D89A45"/>
                </a:solidFill>
                <a:latin typeface="Aptos"/>
              </a:defRPr>
            </a:pPr>
            <a:r>
              <a:t>CHAIYA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5385816"/>
            <a:ext cx="48463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200" b="0">
                <a:solidFill>
                  <a:srgbClr val="FFFDF7"/>
                </a:solidFill>
                <a:latin typeface="Aptos"/>
              </a:defRPr>
            </a:pPr>
            <a:r>
              <a:t>The brand becomes memorable.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defRPr sz="1400" b="1">
                <a:solidFill>
                  <a:srgbClr val="D89A45"/>
                </a:solidFill>
                <a:latin typeface="Aptos"/>
              </a:defRPr>
            </a:pPr>
            <a:r>
              <a:t>CHAI, CHARCHA, &amp; CHAIYA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defRPr sz="1000" b="1">
                <a:solidFill>
                  <a:srgbClr val="F7F0E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